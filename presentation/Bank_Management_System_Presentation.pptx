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114800" cy="4114800"/>
          </a:xfrm>
          <a:prstGeom prst="ellipse">
            <a:avLst/>
          </a:prstGeom>
          <a:solidFill>
            <a:srgbClr val="1F3864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754880"/>
            <a:ext cx="3657600" cy="3657600"/>
          </a:xfrm>
          <a:prstGeom prst="ellipse">
            <a:avLst/>
          </a:prstGeom>
          <a:solidFill>
            <a:srgbClr val="1F3864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13248" y="1005840"/>
            <a:ext cx="1371600" cy="137160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5413248" y="100584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MANAGEMENT SYSTEM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A9C4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Final Capstone Project in Data Structures &amp; Algorithms (C)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97764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BST • Stack • Queue • Sorting • Searching • Recursion • File Handling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4663440"/>
            <a:ext cx="3200400" cy="0"/>
          </a:xfrm>
          <a:prstGeom prst="line">
            <a:avLst/>
          </a:prstGeom>
          <a:noFill/>
          <a:ln w="12700">
            <a:solidFill>
              <a:srgbClr val="A9C4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89204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Members: </a:t>
            </a:r>
            <a:pPr algn="ctr" indent="0" marL="0">
              <a:buNone/>
            </a:pPr>
            <a:r>
              <a:rPr lang="en-US" sz="13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&lt;Your Name&gt;, &lt;Teammate 2&gt;, &lt;Teammate 3&gt;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530352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 </a:t>
            </a:r>
            <a:pPr algn="ctr" indent="0" marL="0">
              <a:buNone/>
            </a:pPr>
            <a:r>
              <a:rPr lang="en-US" sz="13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&lt;Faculty / Guide Name&gt;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39496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1828800"/>
            <a:ext cx="548640" cy="54864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1600200" y="18745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Existing Problem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51460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or poorly structured bank record-keeping makes it slow to search customers, error-prone to track balances, and hard to review recent transactions or process loan requests fairly.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4343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Users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70916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Clerks  •  Branch Administrators  •  Loan Officers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554480"/>
            <a:ext cx="5394960" cy="4480560"/>
          </a:xfrm>
          <a:prstGeom prst="roundRect">
            <a:avLst>
              <a:gd name="adj" fmla="val 2449"/>
            </a:avLst>
          </a:prstGeom>
          <a:solidFill>
            <a:srgbClr val="1F3864"/>
          </a:solidFill>
          <a:ln/>
        </p:spPr>
      </p:sp>
      <p:sp>
        <p:nvSpPr>
          <p:cNvPr id="11" name="Shape 9"/>
          <p:cNvSpPr/>
          <p:nvPr/>
        </p:nvSpPr>
        <p:spPr>
          <a:xfrm>
            <a:off x="6583680" y="1828800"/>
            <a:ext cx="548640" cy="54864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0" y="1828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7315200" y="18745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Solution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83680" y="2514600"/>
            <a:ext cx="4754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console Bank Management System that stores accounts in a BST for efficient search, uses a Stack to undo the last transaction, and a Queue to process loan requests fairly (FIFO).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4114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Benefits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83680" y="4480560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●"/>
            </a:pPr>
            <a:r>
              <a:rPr lang="en-US" sz="125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account lookup (O(log n))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83680" y="4809744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●"/>
            </a:pPr>
            <a:r>
              <a:rPr lang="en-US" sz="125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 transactions with Undo support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83680" y="5138928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●"/>
            </a:pPr>
            <a:r>
              <a:rPr lang="en-US" sz="125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Fair, ordered loan processing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83680" y="5468112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●"/>
            </a:pPr>
            <a:r>
              <a:rPr lang="en-US" sz="125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persists across sessions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6576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Management System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Objectives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755648"/>
            <a:ext cx="457200" cy="457200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556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691640"/>
            <a:ext cx="2651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store new bank accounts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97680" y="155448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26280" y="1755648"/>
            <a:ext cx="457200" cy="457200"/>
          </a:xfrm>
          <a:prstGeom prst="ellipse">
            <a:avLst/>
          </a:prstGeom>
          <a:solidFill>
            <a:srgbClr val="A9C4EB"/>
          </a:solidFill>
          <a:ln/>
        </p:spPr>
      </p:sp>
      <p:sp>
        <p:nvSpPr>
          <p:cNvPr id="9" name="Text 7"/>
          <p:cNvSpPr/>
          <p:nvPr/>
        </p:nvSpPr>
        <p:spPr>
          <a:xfrm>
            <a:off x="4526280" y="17556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120640" y="1691640"/>
            <a:ext cx="2651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and withdraw funds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46720" y="155448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75320" y="1755648"/>
            <a:ext cx="457200" cy="457200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13" name="Text 11"/>
          <p:cNvSpPr/>
          <p:nvPr/>
        </p:nvSpPr>
        <p:spPr>
          <a:xfrm>
            <a:off x="8275320" y="17556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869680" y="1691640"/>
            <a:ext cx="2651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account by number (BST)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10896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3310128"/>
            <a:ext cx="457200" cy="457200"/>
          </a:xfrm>
          <a:prstGeom prst="ellipse">
            <a:avLst/>
          </a:prstGeom>
          <a:solidFill>
            <a:srgbClr val="A9C4EB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3246120"/>
            <a:ext cx="2651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account by name (Linear Search)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297680" y="310896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21" name="Text 19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120640" y="3246120"/>
            <a:ext cx="2651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all accounts sorted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046720" y="310896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75320" y="3310128"/>
            <a:ext cx="457200" cy="457200"/>
          </a:xfrm>
          <a:prstGeom prst="ellipse">
            <a:avLst/>
          </a:prstGeom>
          <a:solidFill>
            <a:srgbClr val="A9C4EB"/>
          </a:solidFill>
          <a:ln/>
        </p:spPr>
      </p:sp>
      <p:sp>
        <p:nvSpPr>
          <p:cNvPr id="25" name="Text 23"/>
          <p:cNvSpPr/>
          <p:nvPr/>
        </p:nvSpPr>
        <p:spPr>
          <a:xfrm>
            <a:off x="827532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869680" y="3246120"/>
            <a:ext cx="2651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Top Balance report (Sorting)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48640" y="466344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7240" y="4864608"/>
            <a:ext cx="457200" cy="457200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29" name="Text 27"/>
          <p:cNvSpPr/>
          <p:nvPr/>
        </p:nvSpPr>
        <p:spPr>
          <a:xfrm>
            <a:off x="777240" y="48646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371600" y="4800600"/>
            <a:ext cx="2651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an account safely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297680" y="466344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26280" y="4864608"/>
            <a:ext cx="457200" cy="457200"/>
          </a:xfrm>
          <a:prstGeom prst="ellipse">
            <a:avLst/>
          </a:prstGeom>
          <a:solidFill>
            <a:srgbClr val="A9C4EB"/>
          </a:solidFill>
          <a:ln/>
        </p:spPr>
      </p:sp>
      <p:sp>
        <p:nvSpPr>
          <p:cNvPr id="33" name="Text 31"/>
          <p:cNvSpPr/>
          <p:nvPr/>
        </p:nvSpPr>
        <p:spPr>
          <a:xfrm>
            <a:off x="4526280" y="48646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120640" y="4800600"/>
            <a:ext cx="2651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 last transaction (Stack)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046720" y="466344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75320" y="4864608"/>
            <a:ext cx="457200" cy="457200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37" name="Text 35"/>
          <p:cNvSpPr/>
          <p:nvPr/>
        </p:nvSpPr>
        <p:spPr>
          <a:xfrm>
            <a:off x="8275320" y="48646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869680" y="4800600"/>
            <a:ext cx="2651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loan requests (Queue)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36576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Management System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937760" y="1508760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13233F"/>
          </a:solidFill>
          <a:ln/>
        </p:spPr>
      </p:sp>
      <p:sp>
        <p:nvSpPr>
          <p:cNvPr id="4" name="Text 2"/>
          <p:cNvSpPr/>
          <p:nvPr/>
        </p:nvSpPr>
        <p:spPr>
          <a:xfrm>
            <a:off x="4937760" y="15087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main.c (Menu)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80760" y="2057400"/>
            <a:ext cx="0" cy="320040"/>
          </a:xfrm>
          <a:prstGeom prst="line">
            <a:avLst/>
          </a:prstGeom>
          <a:noFill/>
          <a:ln w="19050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937760" y="2377440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1F3864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0" y="23774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Core: bst.c (BST)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80760" y="2926080"/>
            <a:ext cx="0" cy="320040"/>
          </a:xfrm>
          <a:prstGeom prst="line">
            <a:avLst/>
          </a:prstGeom>
          <a:noFill/>
          <a:ln w="19050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7200" y="3520440"/>
            <a:ext cx="2057400" cy="640080"/>
          </a:xfrm>
          <a:prstGeom prst="roundRect">
            <a:avLst>
              <a:gd name="adj" fmla="val 11429"/>
            </a:avLst>
          </a:prstGeom>
          <a:solidFill>
            <a:srgbClr val="A9C4E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52044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stack.c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(Undo)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788920" y="3520440"/>
            <a:ext cx="2057400" cy="640080"/>
          </a:xfrm>
          <a:prstGeom prst="roundRect">
            <a:avLst>
              <a:gd name="adj" fmla="val 11429"/>
            </a:avLst>
          </a:prstGeom>
          <a:solidFill>
            <a:srgbClr val="D4AF37"/>
          </a:solidFill>
          <a:ln/>
        </p:spPr>
      </p:sp>
      <p:sp>
        <p:nvSpPr>
          <p:cNvPr id="12" name="Text 10"/>
          <p:cNvSpPr/>
          <p:nvPr/>
        </p:nvSpPr>
        <p:spPr>
          <a:xfrm>
            <a:off x="2788920" y="352044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queue.c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(Loan Requests)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120640" y="3520440"/>
            <a:ext cx="2057400" cy="640080"/>
          </a:xfrm>
          <a:prstGeom prst="roundRect">
            <a:avLst>
              <a:gd name="adj" fmla="val 11429"/>
            </a:avLst>
          </a:prstGeom>
          <a:solidFill>
            <a:srgbClr val="A9C4EB"/>
          </a:solidFill>
          <a:ln/>
        </p:spPr>
      </p:sp>
      <p:sp>
        <p:nvSpPr>
          <p:cNvPr id="14" name="Text 12"/>
          <p:cNvSpPr/>
          <p:nvPr/>
        </p:nvSpPr>
        <p:spPr>
          <a:xfrm>
            <a:off x="5120640" y="352044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sort_search.c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(Reports)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452360" y="3520440"/>
            <a:ext cx="2057400" cy="640080"/>
          </a:xfrm>
          <a:prstGeom prst="roundRect">
            <a:avLst>
              <a:gd name="adj" fmla="val 11429"/>
            </a:avLst>
          </a:prstGeom>
          <a:solidFill>
            <a:srgbClr val="A9C4EB"/>
          </a:solidFill>
          <a:ln/>
        </p:spPr>
      </p:sp>
      <p:sp>
        <p:nvSpPr>
          <p:cNvPr id="16" name="Text 14"/>
          <p:cNvSpPr/>
          <p:nvPr/>
        </p:nvSpPr>
        <p:spPr>
          <a:xfrm>
            <a:off x="7452360" y="352044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file_ops.c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(Persistence)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463040" y="3246120"/>
            <a:ext cx="0" cy="274320"/>
          </a:xfrm>
          <a:prstGeom prst="line">
            <a:avLst/>
          </a:prstGeom>
          <a:noFill/>
          <a:ln w="19050">
            <a:solidFill>
              <a:srgbClr val="5B667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63040" y="3246120"/>
            <a:ext cx="7452360" cy="0"/>
          </a:xfrm>
          <a:prstGeom prst="line">
            <a:avLst/>
          </a:prstGeom>
          <a:noFill/>
          <a:ln w="19050">
            <a:solidFill>
              <a:srgbClr val="5B667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63040" y="3246120"/>
            <a:ext cx="0" cy="274320"/>
          </a:xfrm>
          <a:prstGeom prst="line">
            <a:avLst/>
          </a:prstGeom>
          <a:noFill/>
          <a:ln w="19050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813048" y="3246120"/>
            <a:ext cx="0" cy="274320"/>
          </a:xfrm>
          <a:prstGeom prst="line">
            <a:avLst/>
          </a:prstGeom>
          <a:noFill/>
          <a:ln w="19050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44768" y="3246120"/>
            <a:ext cx="0" cy="274320"/>
          </a:xfrm>
          <a:prstGeom prst="line">
            <a:avLst/>
          </a:prstGeom>
          <a:noFill/>
          <a:ln w="19050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476488" y="3246120"/>
            <a:ext cx="0" cy="274320"/>
          </a:xfrm>
          <a:prstGeom prst="line">
            <a:avLst/>
          </a:prstGeom>
          <a:noFill/>
          <a:ln w="19050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080760" y="4297680"/>
            <a:ext cx="0" cy="365760"/>
          </a:xfrm>
          <a:prstGeom prst="line">
            <a:avLst/>
          </a:prstGeom>
          <a:noFill/>
          <a:ln w="19050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937760" y="4709160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1F3864"/>
          </a:solidFill>
          <a:ln/>
        </p:spPr>
      </p:sp>
      <p:sp>
        <p:nvSpPr>
          <p:cNvPr id="25" name="Text 23"/>
          <p:cNvSpPr/>
          <p:nvPr/>
        </p:nvSpPr>
        <p:spPr>
          <a:xfrm>
            <a:off x="4937760" y="47091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sample-data/bank_data.txt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36576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Management System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 Modules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82712"/>
              </a:tblGrid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Menu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User-friendly menu-driven console application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CRUD Operations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Create, Search, Update (deposit/withdraw), Delete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BST search by account no.; Linear search by 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Bubble Sort for the Top Balance report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 storage between runs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Undo (Stack)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Reverse the most recent transaction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Loan Queue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FIFO processing of pending loan requests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 summary via recursion (count + total balance)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36576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Management System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Structures &amp; Algorithms Used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46304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1F3864"/>
          </a:solidFill>
          <a:ln/>
        </p:spPr>
      </p:sp>
      <p:sp>
        <p:nvSpPr>
          <p:cNvPr id="4" name="Shape 2"/>
          <p:cNvSpPr/>
          <p:nvPr/>
        </p:nvSpPr>
        <p:spPr>
          <a:xfrm>
            <a:off x="1668780" y="1691640"/>
            <a:ext cx="640080" cy="64008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1668780" y="1691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BST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78892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C4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storage, recursive ops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146304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1F3864"/>
          </a:solidFill>
          <a:ln/>
        </p:spPr>
      </p:sp>
      <p:sp>
        <p:nvSpPr>
          <p:cNvPr id="9" name="Shape 7"/>
          <p:cNvSpPr/>
          <p:nvPr/>
        </p:nvSpPr>
        <p:spPr>
          <a:xfrm>
            <a:off x="4503420" y="1691640"/>
            <a:ext cx="640080" cy="64008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0" name="Text 8"/>
          <p:cNvSpPr/>
          <p:nvPr/>
        </p:nvSpPr>
        <p:spPr>
          <a:xfrm>
            <a:off x="4503420" y="1691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657600" y="242316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57600" y="278892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C4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 last transaction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55080" y="146304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1F3864"/>
          </a:solidFill>
          <a:ln/>
        </p:spPr>
      </p:sp>
      <p:sp>
        <p:nvSpPr>
          <p:cNvPr id="14" name="Shape 12"/>
          <p:cNvSpPr/>
          <p:nvPr/>
        </p:nvSpPr>
        <p:spPr>
          <a:xfrm>
            <a:off x="7338060" y="1691640"/>
            <a:ext cx="640080" cy="64008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5" name="Text 13"/>
          <p:cNvSpPr/>
          <p:nvPr/>
        </p:nvSpPr>
        <p:spPr>
          <a:xfrm>
            <a:off x="7338060" y="1691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42316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Queue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92240" y="278892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C4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FIFO loan requests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189720" y="146304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1F3864"/>
          </a:solidFill>
          <a:ln/>
        </p:spPr>
      </p:sp>
      <p:sp>
        <p:nvSpPr>
          <p:cNvPr id="19" name="Shape 17"/>
          <p:cNvSpPr/>
          <p:nvPr/>
        </p:nvSpPr>
        <p:spPr>
          <a:xfrm>
            <a:off x="10172700" y="1691640"/>
            <a:ext cx="640080" cy="64008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0" name="Text 18"/>
          <p:cNvSpPr/>
          <p:nvPr/>
        </p:nvSpPr>
        <p:spPr>
          <a:xfrm>
            <a:off x="10172700" y="1691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26880" y="242316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Bubble Sort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326880" y="278892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C4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Balance report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5800" y="365760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1F3864"/>
          </a:solidFill>
          <a:ln/>
        </p:spPr>
      </p:sp>
      <p:sp>
        <p:nvSpPr>
          <p:cNvPr id="24" name="Shape 22"/>
          <p:cNvSpPr/>
          <p:nvPr/>
        </p:nvSpPr>
        <p:spPr>
          <a:xfrm>
            <a:off x="1668780" y="3886200"/>
            <a:ext cx="640080" cy="64008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5" name="Text 23"/>
          <p:cNvSpPr/>
          <p:nvPr/>
        </p:nvSpPr>
        <p:spPr>
          <a:xfrm>
            <a:off x="1668780" y="3886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22960" y="461772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Linear Search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2960" y="498348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C4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by name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520440" y="365760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1F3864"/>
          </a:solidFill>
          <a:ln/>
        </p:spPr>
      </p:sp>
      <p:sp>
        <p:nvSpPr>
          <p:cNvPr id="29" name="Shape 27"/>
          <p:cNvSpPr/>
          <p:nvPr/>
        </p:nvSpPr>
        <p:spPr>
          <a:xfrm>
            <a:off x="4503420" y="3886200"/>
            <a:ext cx="640080" cy="64008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30" name="Text 28"/>
          <p:cNvSpPr/>
          <p:nvPr/>
        </p:nvSpPr>
        <p:spPr>
          <a:xfrm>
            <a:off x="4503420" y="3886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3657600" y="461772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Recursion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657600" y="498348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C4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BST insert/search/delete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355080" y="365760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1F3864"/>
          </a:solidFill>
          <a:ln/>
        </p:spPr>
      </p:sp>
      <p:sp>
        <p:nvSpPr>
          <p:cNvPr id="34" name="Shape 32"/>
          <p:cNvSpPr/>
          <p:nvPr/>
        </p:nvSpPr>
        <p:spPr>
          <a:xfrm>
            <a:off x="7338060" y="3886200"/>
            <a:ext cx="640080" cy="64008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35" name="Text 33"/>
          <p:cNvSpPr/>
          <p:nvPr/>
        </p:nvSpPr>
        <p:spPr>
          <a:xfrm>
            <a:off x="7338060" y="3886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6492240" y="461772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 Handling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492240" y="498348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C4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storage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189720" y="365760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1F3864"/>
          </a:solidFill>
          <a:ln/>
        </p:spPr>
      </p:sp>
      <p:sp>
        <p:nvSpPr>
          <p:cNvPr id="39" name="Shape 37"/>
          <p:cNvSpPr/>
          <p:nvPr/>
        </p:nvSpPr>
        <p:spPr>
          <a:xfrm>
            <a:off x="10172700" y="3886200"/>
            <a:ext cx="640080" cy="64008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40" name="Text 38"/>
          <p:cNvSpPr/>
          <p:nvPr/>
        </p:nvSpPr>
        <p:spPr>
          <a:xfrm>
            <a:off x="10172700" y="3886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9326880" y="461772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Dynamic Memory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326880" y="498348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C4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malloc/free per BST node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6576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Management System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 Demonstration</a:t>
            </a:r>
            <a:endParaRPr lang="en-US" sz="3000" dirty="0"/>
          </a:p>
        </p:txBody>
      </p:sp>
      <p:pic>
        <p:nvPicPr>
          <p:cNvPr id="3" name="Image 0" descr="/home/claude/BankManagementSystem/screenshots/screenshot_1_create_displa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00200"/>
            <a:ext cx="5394960" cy="4572000"/>
          </a:xfrm>
          <a:prstGeom prst="rect">
            <a:avLst/>
          </a:prstGeom>
        </p:spPr>
      </p:pic>
      <p:pic>
        <p:nvPicPr>
          <p:cNvPr id="4" name="Image 1" descr="/home/claude/BankManagementSystem/screenshots/screenshot_3_top_balance_repor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600200"/>
            <a:ext cx="5486400" cy="4572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48640" y="621792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&amp; Display Accounts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6172200" y="6217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Balance Report (Sorting)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36576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Management System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Complexity Analysis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04872"/>
                <a:gridCol w="3200400"/>
                <a:gridCol w="2286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 / Search / Delete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 avg, O(n) worst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In-order Display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by 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Balance Sort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Bubble Sort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O(n²)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 / Pop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Enqueue / Dequeue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Save / Load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 + BST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 / O(n log 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580644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number of accounts; h = height of the BST (O(log n) balanced, O(n) worst case)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36576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Management System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&amp; Learning Outcomes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39496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7373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Faced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BST deletion with two children correctly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297180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recursion stack depth reasonable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74904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clean Stack/Queue boundaries (full/empty)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452628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2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Synchronizing file data with the in-memory BST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554480"/>
            <a:ext cx="5394960" cy="4526280"/>
          </a:xfrm>
          <a:prstGeom prst="roundRect">
            <a:avLst>
              <a:gd name="adj" fmla="val 2020"/>
            </a:avLst>
          </a:prstGeom>
          <a:solidFill>
            <a:srgbClr val="1F3864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17373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Outcomes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37960" y="219456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25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a BST to a real search/storage problem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37960" y="297180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25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Understood Stack vs Queue through Undo vs FIFO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37960" y="374904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25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Practiced recursion beyond textbook examples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537960" y="452628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25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to reason about time/space complexity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6576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Management System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Repository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120640" cy="4572000"/>
          </a:xfrm>
          <a:prstGeom prst="roundRect">
            <a:avLst>
              <a:gd name="adj" fmla="val 1600"/>
            </a:avLst>
          </a:prstGeom>
          <a:solidFill>
            <a:srgbClr val="13233F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783080"/>
            <a:ext cx="466344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4EC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BankManagementSystem/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4EC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 include/bank.h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4EC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 src/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4EC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|-- main.c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4EC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|-- bst.c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4EC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|-- sort_search.c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4EC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|-- stack.c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4EC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|-- queue.c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4EC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`-- file_ops.c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4EC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 docs/complexity_analysis.md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4EC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 report/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4EC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 presentation/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4EC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 screenshots/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4EC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 sample-data/bank_data.txt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4EC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 README.md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4EC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 LICENSE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4EC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`-- Makefile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080760" y="1828800"/>
            <a:ext cx="365760" cy="365760"/>
          </a:xfrm>
          <a:prstGeom prst="ellipse">
            <a:avLst/>
          </a:prstGeom>
          <a:solidFill>
            <a:srgbClr val="A9C4EB"/>
          </a:solidFill>
          <a:ln/>
        </p:spPr>
      </p:sp>
      <p:sp>
        <p:nvSpPr>
          <p:cNvPr id="6" name="Text 4"/>
          <p:cNvSpPr/>
          <p:nvPr/>
        </p:nvSpPr>
        <p:spPr>
          <a:xfrm>
            <a:off x="6080760" y="1828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80" dirty="0"/>
          </a:p>
        </p:txBody>
      </p:sp>
      <p:sp>
        <p:nvSpPr>
          <p:cNvPr id="7" name="Text 5"/>
          <p:cNvSpPr/>
          <p:nvPr/>
        </p:nvSpPr>
        <p:spPr>
          <a:xfrm>
            <a:off x="6583680" y="1755648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repository, complete source + commit history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080760" y="2697480"/>
            <a:ext cx="365760" cy="365760"/>
          </a:xfrm>
          <a:prstGeom prst="ellipse">
            <a:avLst/>
          </a:prstGeom>
          <a:solidFill>
            <a:srgbClr val="A9C4EB"/>
          </a:solidFill>
          <a:ln/>
        </p:spPr>
      </p:sp>
      <p:sp>
        <p:nvSpPr>
          <p:cNvPr id="9" name="Text 7"/>
          <p:cNvSpPr/>
          <p:nvPr/>
        </p:nvSpPr>
        <p:spPr>
          <a:xfrm>
            <a:off x="6080760" y="2697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80" dirty="0"/>
          </a:p>
        </p:txBody>
      </p:sp>
      <p:sp>
        <p:nvSpPr>
          <p:cNvPr id="10" name="Text 8"/>
          <p:cNvSpPr/>
          <p:nvPr/>
        </p:nvSpPr>
        <p:spPr>
          <a:xfrm>
            <a:off x="6583680" y="2624328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with setup, DSA concepts, and screenshots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080760" y="3566160"/>
            <a:ext cx="365760" cy="365760"/>
          </a:xfrm>
          <a:prstGeom prst="ellipse">
            <a:avLst/>
          </a:prstGeom>
          <a:solidFill>
            <a:srgbClr val="A9C4EB"/>
          </a:solidFill>
          <a:ln/>
        </p:spPr>
      </p:sp>
      <p:sp>
        <p:nvSpPr>
          <p:cNvPr id="12" name="Text 10"/>
          <p:cNvSpPr/>
          <p:nvPr/>
        </p:nvSpPr>
        <p:spPr>
          <a:xfrm>
            <a:off x="6080760" y="3566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6583680" y="3493008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Makefile for a one-command build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4434840"/>
            <a:ext cx="365760" cy="365760"/>
          </a:xfrm>
          <a:prstGeom prst="ellipse">
            <a:avLst/>
          </a:prstGeom>
          <a:solidFill>
            <a:srgbClr val="A9C4EB"/>
          </a:solidFill>
          <a:ln/>
        </p:spPr>
      </p:sp>
      <p:sp>
        <p:nvSpPr>
          <p:cNvPr id="15" name="Text 13"/>
          <p:cNvSpPr/>
          <p:nvPr/>
        </p:nvSpPr>
        <p:spPr>
          <a:xfrm>
            <a:off x="6080760" y="4434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6583680" y="4361688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License included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Management System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Enhancements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F3864"/>
          </a:solidFill>
          <a:ln/>
        </p:spPr>
      </p:sp>
      <p:sp>
        <p:nvSpPr>
          <p:cNvPr id="4" name="Shape 2"/>
          <p:cNvSpPr/>
          <p:nvPr/>
        </p:nvSpPr>
        <p:spPr>
          <a:xfrm>
            <a:off x="713232" y="1783080"/>
            <a:ext cx="502920" cy="50292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10" dirty="0"/>
          </a:p>
        </p:txBody>
      </p:sp>
      <p:sp>
        <p:nvSpPr>
          <p:cNvPr id="6" name="Text 4"/>
          <p:cNvSpPr/>
          <p:nvPr/>
        </p:nvSpPr>
        <p:spPr>
          <a:xfrm>
            <a:off x="1371600" y="1691640"/>
            <a:ext cx="4434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Self-balancing tree (AVL) for guaranteed O(log n)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F3864"/>
          </a:solidFill>
          <a:ln/>
        </p:spPr>
      </p:sp>
      <p:sp>
        <p:nvSpPr>
          <p:cNvPr id="8" name="Shape 6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9" name="Text 7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10" dirty="0"/>
          </a:p>
        </p:txBody>
      </p:sp>
      <p:sp>
        <p:nvSpPr>
          <p:cNvPr id="10" name="Text 8"/>
          <p:cNvSpPr/>
          <p:nvPr/>
        </p:nvSpPr>
        <p:spPr>
          <a:xfrm>
            <a:off x="7086600" y="1691640"/>
            <a:ext cx="4434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for O(1) average account lookup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69748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F3864"/>
          </a:solidFill>
          <a:ln/>
        </p:spPr>
      </p:sp>
      <p:sp>
        <p:nvSpPr>
          <p:cNvPr id="12" name="Shape 10"/>
          <p:cNvSpPr/>
          <p:nvPr/>
        </p:nvSpPr>
        <p:spPr>
          <a:xfrm>
            <a:off x="713232" y="2880360"/>
            <a:ext cx="502920" cy="50292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713232" y="2880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10" dirty="0"/>
          </a:p>
        </p:txBody>
      </p:sp>
      <p:sp>
        <p:nvSpPr>
          <p:cNvPr id="14" name="Text 12"/>
          <p:cNvSpPr/>
          <p:nvPr/>
        </p:nvSpPr>
        <p:spPr>
          <a:xfrm>
            <a:off x="1371600" y="2788920"/>
            <a:ext cx="4434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/ Quick Sort for large account volumes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63640" y="269748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F3864"/>
          </a:solidFill>
          <a:ln/>
        </p:spPr>
      </p:sp>
      <p:sp>
        <p:nvSpPr>
          <p:cNvPr id="16" name="Shape 14"/>
          <p:cNvSpPr/>
          <p:nvPr/>
        </p:nvSpPr>
        <p:spPr>
          <a:xfrm>
            <a:off x="6428232" y="2880360"/>
            <a:ext cx="502920" cy="50292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2880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10" dirty="0"/>
          </a:p>
        </p:txBody>
      </p:sp>
      <p:sp>
        <p:nvSpPr>
          <p:cNvPr id="18" name="Text 16"/>
          <p:cNvSpPr/>
          <p:nvPr/>
        </p:nvSpPr>
        <p:spPr>
          <a:xfrm>
            <a:off x="7086600" y="2788920"/>
            <a:ext cx="4434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Multi-level undo using a larger/linked stack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379476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F3864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977640"/>
            <a:ext cx="502920" cy="50292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3977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10" dirty="0"/>
          </a:p>
        </p:txBody>
      </p:sp>
      <p:sp>
        <p:nvSpPr>
          <p:cNvPr id="22" name="Text 20"/>
          <p:cNvSpPr/>
          <p:nvPr/>
        </p:nvSpPr>
        <p:spPr>
          <a:xfrm>
            <a:off x="1371600" y="3886200"/>
            <a:ext cx="4434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Graphical User Interface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63640" y="379476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F3864"/>
          </a:solidFill>
          <a:ln/>
        </p:spPr>
      </p:sp>
      <p:sp>
        <p:nvSpPr>
          <p:cNvPr id="24" name="Shape 22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5" name="Text 23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10" dirty="0"/>
          </a:p>
        </p:txBody>
      </p:sp>
      <p:sp>
        <p:nvSpPr>
          <p:cNvPr id="26" name="Text 24"/>
          <p:cNvSpPr/>
          <p:nvPr/>
        </p:nvSpPr>
        <p:spPr>
          <a:xfrm>
            <a:off x="7086600" y="3886200"/>
            <a:ext cx="4434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integration (SQLite / MySQL)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6576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Management System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1F3864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5029200"/>
            <a:ext cx="3657600" cy="3657600"/>
          </a:xfrm>
          <a:prstGeom prst="ellipse">
            <a:avLst/>
          </a:prstGeom>
          <a:solidFill>
            <a:srgbClr val="1F3864">
              <a:alpha val="7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56032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&amp; Answers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4937760" y="3566160"/>
            <a:ext cx="2286000" cy="0"/>
          </a:xfrm>
          <a:prstGeom prst="line">
            <a:avLst/>
          </a:prstGeom>
          <a:noFill/>
          <a:ln w="12700">
            <a:solidFill>
              <a:srgbClr val="A9C4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840480"/>
            <a:ext cx="107259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your time.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2026-07-26T18:48:37Z</dcterms:created>
  <dcterms:modified xsi:type="dcterms:W3CDTF">2026-07-26T18:48:37Z</dcterms:modified>
</cp:coreProperties>
</file>